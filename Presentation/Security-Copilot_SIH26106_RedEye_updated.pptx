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Garamond"/>
      <p:regular r:id="rId16"/>
      <p:bold r:id="rId17"/>
      <p:italic r:id="rId18"/>
      <p:boldItalic r:id="rId19"/>
    </p:embeddedFont>
    <p:embeddedFont>
      <p:font typeface="Google Sans"/>
      <p:regular r:id="rId20"/>
      <p:bold r:id="rId21"/>
      <p:italic r:id="rId22"/>
      <p:boldItalic r:id="rId23"/>
    </p:embeddedFont>
    <p:embeddedFont>
      <p:font typeface="Cascadia Mon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regular.fntdata"/><Relationship Id="rId22" Type="http://schemas.openxmlformats.org/officeDocument/2006/relationships/font" Target="fonts/GoogleSans-italic.fntdata"/><Relationship Id="rId21" Type="http://schemas.openxmlformats.org/officeDocument/2006/relationships/font" Target="fonts/GoogleSans-bold.fntdata"/><Relationship Id="rId24" Type="http://schemas.openxmlformats.org/officeDocument/2006/relationships/font" Target="fonts/CascadiaMono-regular.fntdata"/><Relationship Id="rId23" Type="http://schemas.openxmlformats.org/officeDocument/2006/relationships/font" Target="fonts/Google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ascadiaMono-italic.fntdata"/><Relationship Id="rId25" Type="http://schemas.openxmlformats.org/officeDocument/2006/relationships/font" Target="fonts/CascadiaMono-bold.fntdata"/><Relationship Id="rId28" Type="http://schemas.openxmlformats.org/officeDocument/2006/relationships/font" Target="fonts/Oswald-regular.fntdata"/><Relationship Id="rId27" Type="http://schemas.openxmlformats.org/officeDocument/2006/relationships/font" Target="fonts/Cascadia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Garamond-bold.fntdata"/><Relationship Id="rId16" Type="http://schemas.openxmlformats.org/officeDocument/2006/relationships/font" Target="fonts/Garamond-regular.fntdata"/><Relationship Id="rId19" Type="http://schemas.openxmlformats.org/officeDocument/2006/relationships/font" Target="fonts/Garamond-boldItalic.fntdata"/><Relationship Id="rId18" Type="http://schemas.openxmlformats.org/officeDocument/2006/relationships/font" Target="fonts/Garamon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34e91befdada3e16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0" name="Google Shape;100;h34e91befdada3e1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h34e91befdada3e16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91" name="Google Shape;2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13" name="Google Shape;4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11" Type="http://schemas.openxmlformats.org/officeDocument/2006/relationships/image" Target="../media/image33.png"/><Relationship Id="rId10" Type="http://schemas.openxmlformats.org/officeDocument/2006/relationships/image" Target="../media/image11.png"/><Relationship Id="rId13" Type="http://schemas.openxmlformats.org/officeDocument/2006/relationships/image" Target="../media/image6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Relationship Id="rId15" Type="http://schemas.openxmlformats.org/officeDocument/2006/relationships/image" Target="../media/image9.png"/><Relationship Id="rId14" Type="http://schemas.openxmlformats.org/officeDocument/2006/relationships/image" Target="../media/image5.png"/><Relationship Id="rId17" Type="http://schemas.openxmlformats.org/officeDocument/2006/relationships/image" Target="../media/image7.png"/><Relationship Id="rId16" Type="http://schemas.openxmlformats.org/officeDocument/2006/relationships/image" Target="../media/image15.png"/><Relationship Id="rId5" Type="http://schemas.openxmlformats.org/officeDocument/2006/relationships/image" Target="../media/image8.png"/><Relationship Id="rId19" Type="http://schemas.openxmlformats.org/officeDocument/2006/relationships/image" Target="../media/image23.png"/><Relationship Id="rId6" Type="http://schemas.openxmlformats.org/officeDocument/2006/relationships/image" Target="../media/image52.png"/><Relationship Id="rId18" Type="http://schemas.openxmlformats.org/officeDocument/2006/relationships/image" Target="../media/image54.png"/><Relationship Id="rId7" Type="http://schemas.openxmlformats.org/officeDocument/2006/relationships/image" Target="../media/image43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2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1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6.png"/><Relationship Id="rId22" Type="http://schemas.openxmlformats.org/officeDocument/2006/relationships/image" Target="../media/image37.png"/><Relationship Id="rId21" Type="http://schemas.openxmlformats.org/officeDocument/2006/relationships/image" Target="../media/image54.png"/><Relationship Id="rId24" Type="http://schemas.openxmlformats.org/officeDocument/2006/relationships/image" Target="../media/image38.png"/><Relationship Id="rId23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9" Type="http://schemas.openxmlformats.org/officeDocument/2006/relationships/image" Target="../media/image27.png"/><Relationship Id="rId25" Type="http://schemas.openxmlformats.org/officeDocument/2006/relationships/image" Target="../media/image44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Relationship Id="rId11" Type="http://schemas.openxmlformats.org/officeDocument/2006/relationships/image" Target="../media/image36.png"/><Relationship Id="rId10" Type="http://schemas.openxmlformats.org/officeDocument/2006/relationships/image" Target="../media/image39.png"/><Relationship Id="rId13" Type="http://schemas.openxmlformats.org/officeDocument/2006/relationships/image" Target="../media/image45.png"/><Relationship Id="rId12" Type="http://schemas.openxmlformats.org/officeDocument/2006/relationships/image" Target="../media/image31.png"/><Relationship Id="rId15" Type="http://schemas.openxmlformats.org/officeDocument/2006/relationships/image" Target="../media/image47.png"/><Relationship Id="rId14" Type="http://schemas.openxmlformats.org/officeDocument/2006/relationships/image" Target="../media/image30.png"/><Relationship Id="rId17" Type="http://schemas.openxmlformats.org/officeDocument/2006/relationships/image" Target="../media/image41.png"/><Relationship Id="rId16" Type="http://schemas.openxmlformats.org/officeDocument/2006/relationships/image" Target="../media/image40.png"/><Relationship Id="rId19" Type="http://schemas.openxmlformats.org/officeDocument/2006/relationships/image" Target="../media/image57.png"/><Relationship Id="rId18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5" Type="http://schemas.openxmlformats.org/officeDocument/2006/relationships/image" Target="../media/image11.png"/><Relationship Id="rId6" Type="http://schemas.openxmlformats.org/officeDocument/2006/relationships/image" Target="../media/image49.png"/><Relationship Id="rId7" Type="http://schemas.openxmlformats.org/officeDocument/2006/relationships/image" Target="../media/image55.png"/><Relationship Id="rId8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2011680"/>
            <a:ext cx="59247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Problem Statement ID – </a:t>
            </a:r>
            <a:r>
              <a:rPr b="1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26106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Problem Statement Title- </a:t>
            </a:r>
            <a:r>
              <a:rPr b="1" i="0" lang="en-US" sz="1900" u="none" cap="none" strike="noStrike">
                <a:solidFill>
                  <a:srgbClr val="5B4BC4"/>
                </a:solidFill>
                <a:latin typeface="Calibri"/>
                <a:ea typeface="Calibri"/>
                <a:cs typeface="Calibri"/>
                <a:sym typeface="Calibri"/>
              </a:rPr>
              <a:t>AI-Powered Email Threat Detection, GeoLocation and Forensic Intelligence Platform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Theme- </a:t>
            </a:r>
            <a:r>
              <a:rPr b="1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Blockchain &amp; Cybersecurity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PS Category- </a:t>
            </a:r>
            <a:r>
              <a:rPr b="1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Team ID- </a:t>
            </a:r>
            <a:r>
              <a:rPr b="1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142647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Team Name- Red Eye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457200" y="5806450"/>
            <a:ext cx="6212700" cy="567000"/>
          </a:xfrm>
          <a:prstGeom prst="roundRect">
            <a:avLst>
              <a:gd fmla="val 50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5B4BC4.png" id="96" name="Google Shape;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" y="59161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060700" y="5985963"/>
            <a:ext cx="560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solution: Security-Copilot</a:t>
            </a:r>
            <a:r>
              <a:rPr i="0" lang="en-US" sz="13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  ·  Detect → Trace → Attribute → Report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1783080" y="109728"/>
            <a:ext cx="786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Times New Roman"/>
                <a:ea typeface="Times New Roman"/>
                <a:cs typeface="Times New Roman"/>
                <a:sym typeface="Times New Roman"/>
              </a:rPr>
              <a:t>SECURITY - COPILOT</a:t>
            </a:r>
            <a:endParaRPr/>
          </a:p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7" name="Google Shape;107;p14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Eye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783080" y="658368"/>
            <a:ext cx="786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>
                <a:solidFill>
                  <a:srgbClr val="5B4BC4"/>
                </a:solidFill>
                <a:latin typeface="Calibri"/>
                <a:ea typeface="Calibri"/>
                <a:cs typeface="Calibri"/>
                <a:sym typeface="Calibri"/>
              </a:rPr>
              <a:t>AI-Powered Email Threat Detection, GeoLocation &amp; Forensic Intelligence Platform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365760" y="1234440"/>
            <a:ext cx="3246000" cy="3996000"/>
          </a:xfrm>
          <a:prstGeom prst="roundRect">
            <a:avLst>
              <a:gd fmla="val 5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ert_C0394B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52" y="13807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859536" y="1362456"/>
            <a:ext cx="264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Problem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30352" y="1746504"/>
            <a:ext cx="2916900" cy="713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21792" y="1873029"/>
            <a:ext cx="132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C0394B"/>
                </a:solidFill>
                <a:latin typeface="Cascadia Mono"/>
                <a:ea typeface="Cascadia Mono"/>
                <a:cs typeface="Cascadia Mono"/>
                <a:sym typeface="Cascadia Mono"/>
              </a:rPr>
              <a:t>$3.04 B</a:t>
            </a:r>
            <a:endParaRPr>
              <a:latin typeface="Cascadia Mono"/>
              <a:ea typeface="Cascadia Mono"/>
              <a:cs typeface="Cascadia Mono"/>
              <a:sym typeface="Cascadia Mono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965903" y="1855331"/>
            <a:ext cx="1463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lost to Business Email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Compromise in 2025 (FBI IC3)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30352" y="2551176"/>
            <a:ext cx="2916900" cy="713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621792" y="2551176"/>
            <a:ext cx="132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C0394B"/>
                </a:solidFill>
                <a:latin typeface="Cascadia Mono"/>
                <a:ea typeface="Cascadia Mono"/>
                <a:cs typeface="Cascadia Mono"/>
                <a:sym typeface="Cascadia Mono"/>
              </a:rPr>
              <a:t>₹22,495 Cr</a:t>
            </a:r>
            <a:endParaRPr>
              <a:latin typeface="Cascadia Mono"/>
              <a:ea typeface="Cascadia Mono"/>
              <a:cs typeface="Cascadia Mono"/>
              <a:sym typeface="Cascadia Mono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965903" y="2645464"/>
            <a:ext cx="1463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lost by Indians to cyber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fraud in 2025 (MHA / I4C)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530352" y="3392424"/>
            <a:ext cx="29169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gap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6304" lvl="0" marL="146304" marR="0" rtl="0" algn="l">
              <a:spcBef>
                <a:spcPts val="400"/>
              </a:spcBef>
              <a:spcAft>
                <a:spcPts val="0"/>
              </a:spcAft>
              <a:buClr>
                <a:srgbClr val="C0394B"/>
              </a:buClr>
              <a:buSzPts val="1100"/>
              <a:buFont typeface="Arial"/>
              <a:buChar char="•"/>
            </a:pPr>
            <a:r>
              <a:rPr i="0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Filters only block or deliver — no forensic trace of </a:t>
            </a: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</a:t>
            </a:r>
            <a:r>
              <a:rPr i="0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 it came from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6304" lvl="0" marL="146304" marR="0" rtl="0" algn="l">
              <a:spcBef>
                <a:spcPts val="400"/>
              </a:spcBef>
              <a:spcAft>
                <a:spcPts val="0"/>
              </a:spcAft>
              <a:buClr>
                <a:srgbClr val="C0394B"/>
              </a:buClr>
              <a:buSzPts val="1100"/>
              <a:buFont typeface="IBM Plex Sans"/>
              <a:buChar char="•"/>
            </a:pPr>
            <a:r>
              <a:rPr i="0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Headers, SPF/DKIM/DMARC, IP &amp; WHOIS checked by hand, in 5+ separate tools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6304" lvl="0" marL="146304" marR="0" rtl="0" algn="l">
              <a:spcBef>
                <a:spcPts val="400"/>
              </a:spcBef>
              <a:spcAft>
                <a:spcPts val="0"/>
              </a:spcAft>
              <a:buClr>
                <a:srgbClr val="C0394B"/>
              </a:buClr>
              <a:buSzPts val="1100"/>
              <a:buFont typeface="IBM Plex Sans"/>
              <a:buChar char="•"/>
            </a:pPr>
            <a:r>
              <a:rPr i="0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AI-written lures, lookalike domains &amp; relay chains slip past static rules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6304" lvl="0" marL="146304" marR="0" rtl="0" algn="l">
              <a:spcBef>
                <a:spcPts val="400"/>
              </a:spcBef>
              <a:spcAft>
                <a:spcPts val="0"/>
              </a:spcAft>
              <a:buClr>
                <a:srgbClr val="C0394B"/>
              </a:buClr>
              <a:buSzPts val="1100"/>
              <a:buFont typeface="Arial"/>
              <a:buChar char="•"/>
            </a:pPr>
            <a:r>
              <a:rPr i="0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Related frauds are never linked into </a:t>
            </a: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campaigns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3767328" y="1234440"/>
            <a:ext cx="4572000" cy="3996000"/>
          </a:xfrm>
          <a:prstGeom prst="roundRect">
            <a:avLst>
              <a:gd fmla="val 5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5B4BC4.png" id="121" name="Google Shape;12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1920" y="13807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4261104" y="1362456"/>
            <a:ext cx="396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Solution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3931920" y="1737360"/>
            <a:ext cx="4242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Drop in a raw email (.eml), a URL or pasted text. An </a:t>
            </a: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agent investigates it like an analyst</a:t>
            </a:r>
            <a:r>
              <a:rPr i="0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traces its route, verifies the sender, geolocates the origin and checks every link &amp; attachment — then returns a </a:t>
            </a: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classified, attributed, explainable verdict</a:t>
            </a:r>
            <a:r>
              <a:rPr i="0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a forensic report.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3950208" y="2606040"/>
            <a:ext cx="932700" cy="713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il_5B4BC4.png" id="125" name="Google Shape;12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9392" y="2679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3950208" y="2990088"/>
            <a:ext cx="93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Ingest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4901183" y="2898648"/>
            <a:ext cx="146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A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5065776" y="2606040"/>
            <a:ext cx="932700" cy="713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ute_5B4BC4.png" id="129" name="Google Shape;12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94959" y="2679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5065776" y="2990088"/>
            <a:ext cx="93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Trace hops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6016752" y="2898648"/>
            <a:ext cx="146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A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181344" y="2606040"/>
            <a:ext cx="932700" cy="713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ey_5B4BC4.png" id="133" name="Google Shape;13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527" y="2679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6181344" y="2990088"/>
            <a:ext cx="93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Authenticate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7132319" y="2898648"/>
            <a:ext cx="146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A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296912" y="2606040"/>
            <a:ext cx="932700" cy="713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n_5B4BC4.png" id="137" name="Google Shape;13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6096" y="2679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7296912" y="2990088"/>
            <a:ext cx="93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Geolocate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950208" y="3520440"/>
            <a:ext cx="932700" cy="713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rain_5B4BC4.png" id="140" name="Google Shape;14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9392" y="35935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/>
        </p:nvSpPr>
        <p:spPr>
          <a:xfrm>
            <a:off x="3950208" y="3904488"/>
            <a:ext cx="93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Classify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4901183" y="3813048"/>
            <a:ext cx="146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A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5065776" y="3520440"/>
            <a:ext cx="932700" cy="713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nger_5B4BC4.png" id="144" name="Google Shape;14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94959" y="35935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5065776" y="3904488"/>
            <a:ext cx="93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Attribute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6016752" y="3813048"/>
            <a:ext cx="146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A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6181344" y="3520440"/>
            <a:ext cx="932700" cy="713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_5B4BC4.png" id="148" name="Google Shape;14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10527" y="35935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6181344" y="3904488"/>
            <a:ext cx="93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Correlate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7132319" y="3813048"/>
            <a:ext cx="146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A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7296912" y="3520440"/>
            <a:ext cx="932700" cy="713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port_5B4BC4.png" id="152" name="Google Shape;152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26096" y="35935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 txBox="1"/>
          <p:nvPr/>
        </p:nvSpPr>
        <p:spPr>
          <a:xfrm>
            <a:off x="7296912" y="3904488"/>
            <a:ext cx="93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3931920" y="4288536"/>
            <a:ext cx="4242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Answers in the five classes the PS asks for: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3931920" y="4617720"/>
            <a:ext cx="786300" cy="274200"/>
          </a:xfrm>
          <a:prstGeom prst="roundRect">
            <a:avLst>
              <a:gd fmla="val 5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3931920" y="4617720"/>
            <a:ext cx="786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legitimate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4764024" y="4617720"/>
            <a:ext cx="786300" cy="274200"/>
          </a:xfrm>
          <a:prstGeom prst="roundRect">
            <a:avLst>
              <a:gd fmla="val 50000" name="adj"/>
            </a:avLst>
          </a:prstGeom>
          <a:solidFill>
            <a:srgbClr val="FFF6DA"/>
          </a:solidFill>
          <a:ln cap="flat" cmpd="sng" w="9525">
            <a:solidFill>
              <a:srgbClr val="F1DE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4764024" y="4617720"/>
            <a:ext cx="786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A73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suspicious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5596128" y="4617720"/>
            <a:ext cx="914400" cy="274200"/>
          </a:xfrm>
          <a:prstGeom prst="roundRect">
            <a:avLst>
              <a:gd fmla="val 50000" name="adj"/>
            </a:avLst>
          </a:prstGeom>
          <a:solidFill>
            <a:srgbClr val="FDEEE3"/>
          </a:solidFill>
          <a:ln cap="flat" cmpd="sng" w="9525">
            <a:solidFill>
              <a:srgbClr val="F5CD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5596128" y="461772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C8612A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impersonated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6556248" y="4617720"/>
            <a:ext cx="676800" cy="274200"/>
          </a:xfrm>
          <a:prstGeom prst="roundRect">
            <a:avLst>
              <a:gd fmla="val 50000" name="adj"/>
            </a:avLst>
          </a:prstGeom>
          <a:solidFill>
            <a:srgbClr val="C03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6556248" y="4617720"/>
            <a:ext cx="67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phishing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278624" y="4617720"/>
            <a:ext cx="877800" cy="274200"/>
          </a:xfrm>
          <a:prstGeom prst="roundRect">
            <a:avLst>
              <a:gd fmla="val 50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7278624" y="4617720"/>
            <a:ext cx="877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fraud-related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3931920" y="4910327"/>
            <a:ext cx="4242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>
                <a:solidFill>
                  <a:srgbClr val="5A6378"/>
                </a:solidFill>
                <a:latin typeface="Calibri"/>
                <a:ea typeface="Calibri"/>
                <a:cs typeface="Calibri"/>
                <a:sym typeface="Calibri"/>
              </a:rPr>
              <a:t>+ 0–100 risk score  ·  attribution  ·  origin map  ·  campaign ID</a:t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8494776" y="1234440"/>
            <a:ext cx="3328500" cy="3996000"/>
          </a:xfrm>
          <a:prstGeom prst="roundRect">
            <a:avLst>
              <a:gd fmla="val 5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arkles_2E8B62.png" id="167" name="Google Shape;167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659367" y="13807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4"/>
          <p:cNvSpPr txBox="1"/>
          <p:nvPr/>
        </p:nvSpPr>
        <p:spPr>
          <a:xfrm>
            <a:off x="8988551" y="1362456"/>
            <a:ext cx="272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it's different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8677655" y="1847088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t_2E8B62.png" id="170" name="Google Shape;170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69095" y="19385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 txBox="1"/>
          <p:nvPr/>
        </p:nvSpPr>
        <p:spPr>
          <a:xfrm>
            <a:off x="9180576" y="1857906"/>
            <a:ext cx="2505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Investigates, not just filters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 agent chooses its own tools &amp; depth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8677655" y="2514600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auge_2E8B62.png" id="173" name="Google Shape;173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69095" y="26060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4"/>
          <p:cNvSpPr txBox="1"/>
          <p:nvPr/>
        </p:nvSpPr>
        <p:spPr>
          <a:xfrm>
            <a:off x="9180576" y="2525430"/>
            <a:ext cx="2505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Explainable risk score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point carries a written reason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8677655" y="3182112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nger_2E8B62.png" id="176" name="Google Shape;176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769095" y="3273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4"/>
          <p:cNvSpPr txBox="1"/>
          <p:nvPr/>
        </p:nvSpPr>
        <p:spPr>
          <a:xfrm>
            <a:off x="9180576" y="3136392"/>
            <a:ext cx="2505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Attribution, not guesswork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Spoofed · compromised · anonymised · direct actor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8677655" y="3849624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_2E8B62.png" id="179" name="Google Shape;179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769095" y="3941063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9180576" y="3880867"/>
            <a:ext cx="2505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Remembers past cases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SecureBERT memory clusters campaigns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8677655" y="4517136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ck_2E8B62.png" id="182" name="Google Shape;182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769095" y="46085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/>
        </p:nvSpPr>
        <p:spPr>
          <a:xfrm>
            <a:off x="9180576" y="4471416"/>
            <a:ext cx="2505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Private &amp; lawful by design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PII masked, evidence kept, report—never hack back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365760" y="5358384"/>
            <a:ext cx="11457300" cy="786300"/>
          </a:xfrm>
          <a:prstGeom prst="roundRect">
            <a:avLst>
              <a:gd fmla="val 20000" name="adj"/>
            </a:avLst>
          </a:prstGeom>
          <a:solidFill>
            <a:srgbClr val="E6F1FB"/>
          </a:solidFill>
          <a:ln cap="flat" cmpd="sng" w="9525">
            <a:solidFill>
              <a:srgbClr val="BF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arch_2B6CB0.png" id="185" name="Google Shape;185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66928" y="55595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 txBox="1"/>
          <p:nvPr/>
        </p:nvSpPr>
        <p:spPr>
          <a:xfrm>
            <a:off x="1119430" y="5634247"/>
            <a:ext cx="1051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1F2A44"/>
                </a:solidFill>
                <a:latin typeface="Google Sans"/>
                <a:ea typeface="Google Sans"/>
                <a:cs typeface="Google Sans"/>
                <a:sym typeface="Google Sans"/>
              </a:rPr>
              <a:t>Not just </a:t>
            </a:r>
            <a:r>
              <a:rPr b="1" i="1" lang="en-US" sz="1500">
                <a:solidFill>
                  <a:srgbClr val="2B6CB0"/>
                </a:solidFill>
                <a:latin typeface="Google Sans"/>
                <a:ea typeface="Google Sans"/>
                <a:cs typeface="Google Sans"/>
                <a:sym typeface="Google Sans"/>
              </a:rPr>
              <a:t>“is this phishing?”</a:t>
            </a:r>
            <a:r>
              <a:rPr i="1" lang="en-US" sz="1500">
                <a:solidFill>
                  <a:srgbClr val="1F2A44"/>
                </a:solidFill>
                <a:latin typeface="Google Sans"/>
                <a:ea typeface="Google Sans"/>
                <a:cs typeface="Google Sans"/>
                <a:sym typeface="Google Sans"/>
              </a:rPr>
              <a:t> — but </a:t>
            </a:r>
            <a:r>
              <a:rPr b="1" i="1" lang="en-US" sz="1500">
                <a:solidFill>
                  <a:srgbClr val="1F2A44"/>
                </a:solidFill>
                <a:latin typeface="Google Sans"/>
                <a:ea typeface="Google Sans"/>
                <a:cs typeface="Google Sans"/>
                <a:sym typeface="Google Sans"/>
              </a:rPr>
              <a:t>where did it come from, who sent it, and what else is it connected to?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7" name="Google Shape;187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 txBox="1"/>
          <p:nvPr>
            <p:ph type="title"/>
          </p:nvPr>
        </p:nvSpPr>
        <p:spPr>
          <a:xfrm>
            <a:off x="1783080" y="16459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95" name="Google Shape;195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96" name="Google Shape;196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5" title="tech_approach_v3.png" descr="Technical approach: entry points (Chrome extension, Gmail Add-on, dashboard, CLI) feed fast triage (ONNX + VirusTotal link check, BERT + Jev text check) and a full LangGraph investigation (header, auth, attachment and PDF sandbox forensics, LLM agent with tools), producing evidence, case memory and an explainable verdict.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538" y="1078700"/>
            <a:ext cx="11856932" cy="52569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99" name="Google Shape;199;p15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Eye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>
            <p:ph type="title"/>
          </p:nvPr>
        </p:nvSpPr>
        <p:spPr>
          <a:xfrm>
            <a:off x="1783080" y="16459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207" name="Google Shape;207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8" name="Google Shape;208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9" name="Google Shape;2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 txBox="1"/>
          <p:nvPr/>
        </p:nvSpPr>
        <p:spPr>
          <a:xfrm>
            <a:off x="365822" y="1226464"/>
            <a:ext cx="576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BUILT AND RUNNING</a:t>
            </a:r>
            <a:r>
              <a:rPr i="1" lang="en-US" sz="11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—  the Security-Copilot web app on a real fraud case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webapp_mockup.png" id="211" name="Google Shape;2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481328"/>
            <a:ext cx="5760720" cy="331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/>
          <p:nvPr/>
        </p:nvSpPr>
        <p:spPr>
          <a:xfrm>
            <a:off x="1539849" y="4974336"/>
            <a:ext cx="1064361" cy="1243584"/>
          </a:xfrm>
          <a:prstGeom prst="roundRect">
            <a:avLst>
              <a:gd fmla="val 10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1539849" y="5101937"/>
            <a:ext cx="1064361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5B4BC4"/>
                </a:solidFill>
                <a:latin typeface="Cascadia Mono"/>
                <a:ea typeface="Cascadia Mono"/>
                <a:cs typeface="Cascadia Mono"/>
                <a:sym typeface="Cascadia Mono"/>
              </a:rPr>
              <a:t>6 / 6</a:t>
            </a:r>
            <a:endParaRPr>
              <a:latin typeface="Cascadia Mono"/>
              <a:ea typeface="Cascadia Mono"/>
              <a:cs typeface="Cascadia Mono"/>
              <a:sym typeface="Cascadia Mono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1539849" y="5577840"/>
            <a:ext cx="106436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PS modules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delivered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2713938" y="4974336"/>
            <a:ext cx="1064361" cy="1243584"/>
          </a:xfrm>
          <a:prstGeom prst="roundRect">
            <a:avLst>
              <a:gd fmla="val 10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2713938" y="5101937"/>
            <a:ext cx="1064361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5B4BC4"/>
                </a:solidFill>
                <a:latin typeface="Cascadia Mono"/>
                <a:ea typeface="Cascadia Mono"/>
                <a:cs typeface="Cascadia Mono"/>
                <a:sym typeface="Cascadia Mono"/>
              </a:rPr>
              <a:t>12</a:t>
            </a:r>
            <a:endParaRPr>
              <a:latin typeface="Cascadia Mono"/>
              <a:ea typeface="Cascadia Mono"/>
              <a:cs typeface="Cascadia Mono"/>
              <a:sym typeface="Cascadia Mono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2713938" y="5577840"/>
            <a:ext cx="106436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&amp; forensic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tools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3888027" y="4974336"/>
            <a:ext cx="1064361" cy="1243584"/>
          </a:xfrm>
          <a:prstGeom prst="roundRect">
            <a:avLst>
              <a:gd fmla="val 10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3888027" y="5101937"/>
            <a:ext cx="1064361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26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3888027" y="5577840"/>
            <a:ext cx="106436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 tests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passing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5062116" y="4974336"/>
            <a:ext cx="1064361" cy="1243584"/>
          </a:xfrm>
          <a:prstGeom prst="roundRect">
            <a:avLst>
              <a:gd fmla="val 10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5062116" y="5101937"/>
            <a:ext cx="1064361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₹0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5062116" y="5577840"/>
            <a:ext cx="106436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paid threat-intel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APIs required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1" name="KPI false alerts bg"/>
          <p:cNvSpPr/>
          <p:nvPr/>
        </p:nvSpPr>
        <p:spPr>
          <a:xfrm>
            <a:off x="365760" y="4974336"/>
            <a:ext cx="1064361" cy="1243584"/>
          </a:xfrm>
          <a:prstGeom prst="roundRect">
            <a:avLst>
              <a:gd fmla="val 10000" name="adj"/>
            </a:avLst>
          </a:prstGeom>
          <a:solidFill>
            <a:srgbClr val="E6F6EE"/>
          </a:solidFill>
          <a:ln cap="flat" cmpd="sng" w="19050">
            <a:solidFill>
              <a:srgbClr val="2E8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KPI false alerts value"/>
          <p:cNvSpPr txBox="1"/>
          <p:nvPr/>
        </p:nvSpPr>
        <p:spPr>
          <a:xfrm>
            <a:off x="365760" y="5101937"/>
            <a:ext cx="1064361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3" name="KPI false alerts label"/>
          <p:cNvSpPr txBox="1"/>
          <p:nvPr/>
        </p:nvSpPr>
        <p:spPr>
          <a:xfrm>
            <a:off x="365760" y="5577840"/>
            <a:ext cx="106436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1F5C4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false alerts in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>
                <a:solidFill>
                  <a:srgbClr val="1F5C41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Gmail tests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6355080" y="1170432"/>
            <a:ext cx="546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CHALLENGE</a:t>
            </a:r>
            <a:r>
              <a:rPr i="0" lang="en-US" sz="1300">
                <a:solidFill>
                  <a:srgbClr val="8A93A6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→   </a:t>
            </a:r>
            <a:r>
              <a:rPr b="1" i="0" lang="en-US" sz="130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WE HANDLE IT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6355080" y="1517904"/>
            <a:ext cx="2194560" cy="579990"/>
          </a:xfrm>
          <a:prstGeom prst="roundRect">
            <a:avLst>
              <a:gd fmla="val 50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409944" y="1606731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or_C0394B.png" id="227" name="Google Shape;2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1383" y="1698171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 txBox="1"/>
          <p:nvPr/>
        </p:nvSpPr>
        <p:spPr>
          <a:xfrm>
            <a:off x="6908360" y="1726381"/>
            <a:ext cx="160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TOR / VPN hides origin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8613648" y="1716459"/>
            <a:ext cx="23774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3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8915400" y="1517904"/>
            <a:ext cx="2907792" cy="579990"/>
          </a:xfrm>
          <a:prstGeom prst="roundRect">
            <a:avLst>
              <a:gd fmla="val 5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8970264" y="1606731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2E8B62.png" id="232" name="Google Shape;2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1704" y="1698171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6"/>
          <p:cNvSpPr txBox="1"/>
          <p:nvPr/>
        </p:nvSpPr>
        <p:spPr>
          <a:xfrm>
            <a:off x="9456105" y="1652496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Flag as anonymised; origin shown as “probable”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6355080" y="2189334"/>
            <a:ext cx="2194560" cy="579990"/>
          </a:xfrm>
          <a:prstGeom prst="roundRect">
            <a:avLst>
              <a:gd fmla="val 50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6409944" y="227816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t_C0394B.png" id="236" name="Google Shape;2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1383" y="236960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6895785" y="2323926"/>
            <a:ext cx="160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Flawless AI-written lures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8613648" y="2387890"/>
            <a:ext cx="23774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3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8915400" y="2189334"/>
            <a:ext cx="2907792" cy="579990"/>
          </a:xfrm>
          <a:prstGeom prst="roundRect">
            <a:avLst>
              <a:gd fmla="val 5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8970264" y="227816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2E8B62.png" id="241" name="Google Shape;2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1704" y="236960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6"/>
          <p:cNvSpPr txBox="1"/>
          <p:nvPr/>
        </p:nvSpPr>
        <p:spPr>
          <a:xfrm>
            <a:off x="9456105" y="2323926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Jev judges intent, not grammar; headers &amp; links checked apart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6355080" y="2860765"/>
            <a:ext cx="2194560" cy="579990"/>
          </a:xfrm>
          <a:prstGeom prst="roundRect">
            <a:avLst>
              <a:gd fmla="val 50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6409944" y="2949593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off_C0394B.png" id="245" name="Google Shape;2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1383" y="3041033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/>
          <p:nvPr/>
        </p:nvSpPr>
        <p:spPr>
          <a:xfrm>
            <a:off x="6895785" y="2995357"/>
            <a:ext cx="160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LLM error or outage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8613648" y="3059321"/>
            <a:ext cx="23774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3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8915400" y="2860765"/>
            <a:ext cx="2907792" cy="579990"/>
          </a:xfrm>
          <a:prstGeom prst="roundRect">
            <a:avLst>
              <a:gd fmla="val 5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8970264" y="2949593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2E8B62.png" id="250" name="Google Shape;2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1704" y="3041033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6"/>
          <p:cNvSpPr txBox="1"/>
          <p:nvPr/>
        </p:nvSpPr>
        <p:spPr>
          <a:xfrm>
            <a:off x="9456105" y="2995357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Rule-based score; fails safe to “suspicious”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6355080" y="3532196"/>
            <a:ext cx="2194560" cy="579990"/>
          </a:xfrm>
          <a:prstGeom prst="roundRect">
            <a:avLst>
              <a:gd fmla="val 50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6409944" y="3621024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x_C0394B.png" id="254" name="Google Shape;25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01383" y="3712463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 txBox="1"/>
          <p:nvPr/>
        </p:nvSpPr>
        <p:spPr>
          <a:xfrm>
            <a:off x="6895785" y="3666788"/>
            <a:ext cx="160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Weaponized</a:t>
            </a: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 attachments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8613648" y="3730752"/>
            <a:ext cx="23774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3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8915400" y="3532196"/>
            <a:ext cx="2907792" cy="579990"/>
          </a:xfrm>
          <a:prstGeom prst="roundRect">
            <a:avLst>
              <a:gd fmla="val 5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8970264" y="3621024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2E8B62.png" id="259" name="Google Shape;2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1704" y="3712463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6"/>
          <p:cNvSpPr txBox="1"/>
          <p:nvPr/>
        </p:nvSpPr>
        <p:spPr>
          <a:xfrm>
            <a:off x="9456105" y="3666788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Sandboxed read of text, links &amp; scripts — never opened or run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6355080" y="4203627"/>
            <a:ext cx="2194560" cy="579990"/>
          </a:xfrm>
          <a:prstGeom prst="roundRect">
            <a:avLst>
              <a:gd fmla="val 50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6409944" y="4292454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yeoff_C0394B.png" id="263" name="Google Shape;26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01383" y="438389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6"/>
          <p:cNvSpPr txBox="1"/>
          <p:nvPr/>
        </p:nvSpPr>
        <p:spPr>
          <a:xfrm>
            <a:off x="6908373" y="4409007"/>
            <a:ext cx="160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Sensitive personal data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8613648" y="4402182"/>
            <a:ext cx="23774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3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8915400" y="4203627"/>
            <a:ext cx="2907792" cy="579990"/>
          </a:xfrm>
          <a:prstGeom prst="roundRect">
            <a:avLst>
              <a:gd fmla="val 5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8970264" y="4292454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2E8B62.png" id="268" name="Google Shape;26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1704" y="438389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6"/>
          <p:cNvSpPr txBox="1"/>
          <p:nvPr/>
        </p:nvSpPr>
        <p:spPr>
          <a:xfrm>
            <a:off x="9456105" y="4338219"/>
            <a:ext cx="231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PII masked · 90-day auto-delete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355080" y="4875058"/>
            <a:ext cx="2194560" cy="579990"/>
          </a:xfrm>
          <a:prstGeom prst="roundRect">
            <a:avLst>
              <a:gd fmla="val 50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6409944" y="4963885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upee_C0394B.png" id="272" name="Google Shape;27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1383" y="5055325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6"/>
          <p:cNvSpPr txBox="1"/>
          <p:nvPr/>
        </p:nvSpPr>
        <p:spPr>
          <a:xfrm>
            <a:off x="6908373" y="5080463"/>
            <a:ext cx="160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API cost &amp; rate limits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8613648" y="5073613"/>
            <a:ext cx="23774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3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8915400" y="4875058"/>
            <a:ext cx="2907792" cy="579990"/>
          </a:xfrm>
          <a:prstGeom prst="roundRect">
            <a:avLst>
              <a:gd fmla="val 5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8970264" y="4963885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2E8B62.png" id="277" name="Google Shape;2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1704" y="5055325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9456105" y="5009650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Offline GeoIP + cache; paid APIs optional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6355080" y="5546489"/>
            <a:ext cx="2194560" cy="579990"/>
          </a:xfrm>
          <a:prstGeom prst="roundRect">
            <a:avLst>
              <a:gd fmla="val 50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6409944" y="563531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fresh_C0394B.png" id="281" name="Google Shape;28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01383" y="57267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6"/>
          <p:cNvSpPr txBox="1"/>
          <p:nvPr/>
        </p:nvSpPr>
        <p:spPr>
          <a:xfrm>
            <a:off x="6895785" y="5681081"/>
            <a:ext cx="160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DKIM keys / DNS change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8613648" y="5745044"/>
            <a:ext cx="23774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3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8915400" y="5546489"/>
            <a:ext cx="2907792" cy="579990"/>
          </a:xfrm>
          <a:prstGeom prst="roundRect">
            <a:avLst>
              <a:gd fmla="val 5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8970264" y="563531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2E8B62.png" id="286" name="Google Shape;28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1704" y="57267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6"/>
          <p:cNvSpPr txBox="1"/>
          <p:nvPr/>
        </p:nvSpPr>
        <p:spPr>
          <a:xfrm>
            <a:off x="9456105" y="5681081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Receiver’s verdict kept beside live re-check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descr="Your startup LOGO" id="288" name="Google Shape;288;p16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Eye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 txBox="1"/>
          <p:nvPr>
            <p:ph type="title"/>
          </p:nvPr>
        </p:nvSpPr>
        <p:spPr>
          <a:xfrm>
            <a:off x="1783080" y="16459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296" name="Google Shape;296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7" name="Google Shape;297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98" name="Google Shape;2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17"/>
          <p:cNvCxnSpPr/>
          <p:nvPr/>
        </p:nvCxnSpPr>
        <p:spPr>
          <a:xfrm rot="10800000">
            <a:off x="1609344" y="1883664"/>
            <a:ext cx="1476756" cy="1225296"/>
          </a:xfrm>
          <a:prstGeom prst="straightConnector1">
            <a:avLst/>
          </a:prstGeom>
          <a:noFill/>
          <a:ln cap="flat" cmpd="sng" w="22225">
            <a:solidFill>
              <a:srgbClr val="B4AAE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0" name="Google Shape;300;p17"/>
          <p:cNvCxnSpPr/>
          <p:nvPr/>
        </p:nvCxnSpPr>
        <p:spPr>
          <a:xfrm flipH="1" rot="10800000">
            <a:off x="3086100" y="1883664"/>
            <a:ext cx="1476756" cy="1225296"/>
          </a:xfrm>
          <a:prstGeom prst="straightConnector1">
            <a:avLst/>
          </a:prstGeom>
          <a:noFill/>
          <a:ln cap="flat" cmpd="sng" w="22225">
            <a:solidFill>
              <a:srgbClr val="B4AAE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1" name="Google Shape;301;p17"/>
          <p:cNvCxnSpPr/>
          <p:nvPr/>
        </p:nvCxnSpPr>
        <p:spPr>
          <a:xfrm flipH="1">
            <a:off x="1609344" y="3108960"/>
            <a:ext cx="1476756" cy="1225296"/>
          </a:xfrm>
          <a:prstGeom prst="straightConnector1">
            <a:avLst/>
          </a:prstGeom>
          <a:noFill/>
          <a:ln cap="flat" cmpd="sng" w="22225">
            <a:solidFill>
              <a:srgbClr val="B4AAE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2" name="Google Shape;302;p17"/>
          <p:cNvCxnSpPr/>
          <p:nvPr/>
        </p:nvCxnSpPr>
        <p:spPr>
          <a:xfrm>
            <a:off x="3086100" y="3108960"/>
            <a:ext cx="1476756" cy="1225296"/>
          </a:xfrm>
          <a:prstGeom prst="straightConnector1">
            <a:avLst/>
          </a:prstGeom>
          <a:noFill/>
          <a:ln cap="flat" cmpd="sng" w="22225">
            <a:solidFill>
              <a:srgbClr val="B4AA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3" name="Google Shape;303;p17"/>
          <p:cNvSpPr/>
          <p:nvPr/>
        </p:nvSpPr>
        <p:spPr>
          <a:xfrm>
            <a:off x="365760" y="1188720"/>
            <a:ext cx="2487168" cy="1389888"/>
          </a:xfrm>
          <a:prstGeom prst="roundRect">
            <a:avLst>
              <a:gd fmla="val 10000" name="adj"/>
            </a:avLst>
          </a:prstGeom>
          <a:solidFill>
            <a:srgbClr val="E6F1FB"/>
          </a:solidFill>
          <a:ln cap="flat" cmpd="sng" w="9525">
            <a:solidFill>
              <a:srgbClr val="BF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493776" y="13167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ilding_2B6CB0.png" id="305" name="Google Shape;3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14173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 txBox="1"/>
          <p:nvPr/>
        </p:nvSpPr>
        <p:spPr>
          <a:xfrm>
            <a:off x="1024141" y="1484267"/>
            <a:ext cx="1755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Institutions &amp; SOC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_2B6CB0.png" id="307" name="Google Shape;30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19293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7"/>
          <p:cNvSpPr txBox="1"/>
          <p:nvPr/>
        </p:nvSpPr>
        <p:spPr>
          <a:xfrm>
            <a:off x="804672" y="1935570"/>
            <a:ext cx="198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Alert before the click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_2B6CB0.png" id="309" name="Google Shape;30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22311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7"/>
          <p:cNvSpPr txBox="1"/>
          <p:nvPr/>
        </p:nvSpPr>
        <p:spPr>
          <a:xfrm>
            <a:off x="804672" y="2237322"/>
            <a:ext cx="198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Campaign-level view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3319272" y="1188720"/>
            <a:ext cx="2487168" cy="1389888"/>
          </a:xfrm>
          <a:prstGeom prst="roundRect">
            <a:avLst>
              <a:gd fmla="val 10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3447288" y="13167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5B4BC4.png" id="313" name="Google Shape;31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47872" y="14173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 txBox="1"/>
          <p:nvPr/>
        </p:nvSpPr>
        <p:spPr>
          <a:xfrm>
            <a:off x="4018816" y="1448310"/>
            <a:ext cx="1755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Law enforcement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_5B4BC4.png" id="315" name="Google Shape;31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3864" y="19293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7"/>
          <p:cNvSpPr txBox="1"/>
          <p:nvPr/>
        </p:nvSpPr>
        <p:spPr>
          <a:xfrm>
            <a:off x="3758184" y="1935570"/>
            <a:ext cx="198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Court-ready PDF evidence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_5B4BC4.png" id="317" name="Google Shape;31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3864" y="22311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7"/>
          <p:cNvSpPr txBox="1"/>
          <p:nvPr/>
        </p:nvSpPr>
        <p:spPr>
          <a:xfrm>
            <a:off x="3758184" y="2237322"/>
            <a:ext cx="198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Origin, ISP &amp; ASN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365760" y="3639312"/>
            <a:ext cx="2487168" cy="1389888"/>
          </a:xfrm>
          <a:prstGeom prst="roundRect">
            <a:avLst>
              <a:gd fmla="val 10000" name="adj"/>
            </a:avLst>
          </a:prstGeom>
          <a:solidFill>
            <a:srgbClr val="FDEEE3"/>
          </a:solidFill>
          <a:ln cap="flat" cmpd="sng" w="9525">
            <a:solidFill>
              <a:srgbClr val="F5CD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93776" y="37673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nk_C8612A.png" id="321" name="Google Shape;32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360" y="38679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 txBox="1"/>
          <p:nvPr/>
        </p:nvSpPr>
        <p:spPr>
          <a:xfrm>
            <a:off x="1042416" y="3924210"/>
            <a:ext cx="1755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Banks &amp; fraud units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_C8612A.png" id="323" name="Google Shape;32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0352" y="43799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7"/>
          <p:cNvSpPr txBox="1"/>
          <p:nvPr/>
        </p:nvSpPr>
        <p:spPr>
          <a:xfrm>
            <a:off x="804672" y="4386162"/>
            <a:ext cx="198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Stops BEC payment fraud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_C8612A.png" id="325" name="Google Shape;32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0352" y="46817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7"/>
          <p:cNvSpPr txBox="1"/>
          <p:nvPr/>
        </p:nvSpPr>
        <p:spPr>
          <a:xfrm>
            <a:off x="804672" y="4687914"/>
            <a:ext cx="198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Faster fund-freeze calls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3319272" y="3639312"/>
            <a:ext cx="2487168" cy="1389888"/>
          </a:xfrm>
          <a:prstGeom prst="roundRect">
            <a:avLst>
              <a:gd fmla="val 10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3447288" y="37673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s_2E8B62.png" id="329" name="Google Shape;32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47872" y="38679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3995928" y="3901799"/>
            <a:ext cx="1755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Citizens &amp; staff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_2E8B62.png" id="331" name="Google Shape;33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83864" y="43799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7"/>
          <p:cNvSpPr txBox="1"/>
          <p:nvPr/>
        </p:nvSpPr>
        <p:spPr>
          <a:xfrm>
            <a:off x="3758184" y="4386162"/>
            <a:ext cx="198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Plain-English verdicts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_2E8B62.png" id="333" name="Google Shape;33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83864" y="46817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7"/>
          <p:cNvSpPr txBox="1"/>
          <p:nvPr/>
        </p:nvSpPr>
        <p:spPr>
          <a:xfrm>
            <a:off x="3758184" y="4687914"/>
            <a:ext cx="198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One-click report &amp; block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2574036" y="2596896"/>
            <a:ext cx="1024128" cy="1024128"/>
          </a:xfrm>
          <a:prstGeom prst="ellipse">
            <a:avLst/>
          </a:prstGeom>
          <a:solidFill>
            <a:srgbClr val="5B4B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FFFFFF.png" id="336" name="Google Shape;33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921508" y="274320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7"/>
          <p:cNvSpPr txBox="1"/>
          <p:nvPr/>
        </p:nvSpPr>
        <p:spPr>
          <a:xfrm>
            <a:off x="2574036" y="3090672"/>
            <a:ext cx="102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Security-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Copilot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6035040" y="1188720"/>
            <a:ext cx="5788152" cy="2084831"/>
          </a:xfrm>
          <a:prstGeom prst="roundRect">
            <a:avLst>
              <a:gd fmla="val 6000" name="adj"/>
            </a:avLst>
          </a:prstGeom>
          <a:solidFill>
            <a:srgbClr val="F3F5F9"/>
          </a:solidFill>
          <a:ln cap="flat" cmpd="sng" w="9525">
            <a:solidFill>
              <a:srgbClr val="DC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6163055" y="1298448"/>
            <a:ext cx="868680" cy="256032"/>
          </a:xfrm>
          <a:prstGeom prst="roundRect">
            <a:avLst>
              <a:gd fmla="val 50000" name="adj"/>
            </a:avLst>
          </a:prstGeom>
          <a:solidFill>
            <a:srgbClr val="C03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6163055" y="1332066"/>
            <a:ext cx="868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BEFORE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1" name="Google Shape;341;p17"/>
          <p:cNvCxnSpPr/>
          <p:nvPr/>
        </p:nvCxnSpPr>
        <p:spPr>
          <a:xfrm>
            <a:off x="7653527" y="1481328"/>
            <a:ext cx="402336" cy="0"/>
          </a:xfrm>
          <a:prstGeom prst="straightConnector1">
            <a:avLst/>
          </a:prstGeom>
          <a:noFill/>
          <a:ln cap="flat" cmpd="sng" w="15875">
            <a:solidFill>
              <a:srgbClr val="B8BF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2" name="Google Shape;342;p17"/>
          <p:cNvSpPr/>
          <p:nvPr/>
        </p:nvSpPr>
        <p:spPr>
          <a:xfrm>
            <a:off x="7269479" y="128930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search_8A93A6.png" id="343" name="Google Shape;34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51775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7"/>
          <p:cNvSpPr txBox="1"/>
          <p:nvPr/>
        </p:nvSpPr>
        <p:spPr>
          <a:xfrm>
            <a:off x="7086599" y="1691640"/>
            <a:ext cx="74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Raw headers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5" name="Google Shape;345;p17"/>
          <p:cNvCxnSpPr/>
          <p:nvPr/>
        </p:nvCxnSpPr>
        <p:spPr>
          <a:xfrm>
            <a:off x="8439911" y="1481328"/>
            <a:ext cx="402336" cy="0"/>
          </a:xfrm>
          <a:prstGeom prst="straightConnector1">
            <a:avLst/>
          </a:prstGeom>
          <a:noFill/>
          <a:ln cap="flat" cmpd="sng" w="15875">
            <a:solidFill>
              <a:srgbClr val="B8BF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6" name="Google Shape;346;p17"/>
          <p:cNvSpPr/>
          <p:nvPr/>
        </p:nvSpPr>
        <p:spPr>
          <a:xfrm>
            <a:off x="8055863" y="128930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ey_8A93A6.png" id="347" name="Google Shape;347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38159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7"/>
          <p:cNvSpPr txBox="1"/>
          <p:nvPr/>
        </p:nvSpPr>
        <p:spPr>
          <a:xfrm>
            <a:off x="7872983" y="1691640"/>
            <a:ext cx="74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SPF / DKIM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9" name="Google Shape;349;p17"/>
          <p:cNvCxnSpPr/>
          <p:nvPr/>
        </p:nvCxnSpPr>
        <p:spPr>
          <a:xfrm>
            <a:off x="9226296" y="1481328"/>
            <a:ext cx="402336" cy="0"/>
          </a:xfrm>
          <a:prstGeom prst="straightConnector1">
            <a:avLst/>
          </a:prstGeom>
          <a:noFill/>
          <a:ln cap="flat" cmpd="sng" w="15875">
            <a:solidFill>
              <a:srgbClr val="B8BF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0" name="Google Shape;350;p17"/>
          <p:cNvSpPr/>
          <p:nvPr/>
        </p:nvSpPr>
        <p:spPr>
          <a:xfrm>
            <a:off x="8842248" y="128930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lobe_8A93A6.png" id="351" name="Google Shape;351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924544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7"/>
          <p:cNvSpPr txBox="1"/>
          <p:nvPr/>
        </p:nvSpPr>
        <p:spPr>
          <a:xfrm>
            <a:off x="8659368" y="1691640"/>
            <a:ext cx="74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WHOIS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3" name="Google Shape;353;p17"/>
          <p:cNvCxnSpPr/>
          <p:nvPr/>
        </p:nvCxnSpPr>
        <p:spPr>
          <a:xfrm>
            <a:off x="10012680" y="1481328"/>
            <a:ext cx="402335" cy="0"/>
          </a:xfrm>
          <a:prstGeom prst="straightConnector1">
            <a:avLst/>
          </a:prstGeom>
          <a:noFill/>
          <a:ln cap="flat" cmpd="sng" w="15875">
            <a:solidFill>
              <a:srgbClr val="B8BF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4" name="Google Shape;354;p17"/>
          <p:cNvSpPr/>
          <p:nvPr/>
        </p:nvSpPr>
        <p:spPr>
          <a:xfrm>
            <a:off x="9628632" y="128930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n_8A93A6.png" id="355" name="Google Shape;355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710928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7"/>
          <p:cNvSpPr txBox="1"/>
          <p:nvPr/>
        </p:nvSpPr>
        <p:spPr>
          <a:xfrm>
            <a:off x="9445752" y="1691640"/>
            <a:ext cx="74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IP lookup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10415015" y="128930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an_8A93A6.png" id="358" name="Google Shape;358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497311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7"/>
          <p:cNvSpPr txBox="1"/>
          <p:nvPr/>
        </p:nvSpPr>
        <p:spPr>
          <a:xfrm>
            <a:off x="10232136" y="1691640"/>
            <a:ext cx="74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VirusTotal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10954512" y="1280160"/>
            <a:ext cx="749808" cy="566928"/>
          </a:xfrm>
          <a:prstGeom prst="roundRect">
            <a:avLst>
              <a:gd fmla="val 20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10954512" y="1437042"/>
            <a:ext cx="749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manual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links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62" name="Google Shape;362;p17"/>
          <p:cNvCxnSpPr/>
          <p:nvPr/>
        </p:nvCxnSpPr>
        <p:spPr>
          <a:xfrm>
            <a:off x="6163055" y="2048256"/>
            <a:ext cx="5532121" cy="0"/>
          </a:xfrm>
          <a:prstGeom prst="straightConnector1">
            <a:avLst/>
          </a:prstGeom>
          <a:noFill/>
          <a:ln cap="flat" cmpd="sng" w="12700">
            <a:solidFill>
              <a:srgbClr val="DC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7"/>
          <p:cNvSpPr/>
          <p:nvPr/>
        </p:nvSpPr>
        <p:spPr>
          <a:xfrm>
            <a:off x="6163055" y="2212848"/>
            <a:ext cx="868680" cy="256032"/>
          </a:xfrm>
          <a:prstGeom prst="roundRect">
            <a:avLst>
              <a:gd fmla="val 50000" name="adj"/>
            </a:avLst>
          </a:prstGeom>
          <a:solidFill>
            <a:srgbClr val="2E8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6163055" y="2246466"/>
            <a:ext cx="868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AFTER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7269479" y="2194560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il_2E8B62.png" id="366" name="Google Shape;366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360919" y="22860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7"/>
          <p:cNvSpPr txBox="1"/>
          <p:nvPr/>
        </p:nvSpPr>
        <p:spPr>
          <a:xfrm>
            <a:off x="6929750" y="2633472"/>
            <a:ext cx="1100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.eml · URL · Gmail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7772400" y="2313432"/>
            <a:ext cx="27432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8119871" y="2157984"/>
            <a:ext cx="1920240" cy="512064"/>
          </a:xfrm>
          <a:prstGeom prst="roundRect">
            <a:avLst>
              <a:gd fmla="val 50000" name="adj"/>
            </a:avLst>
          </a:prstGeom>
          <a:solidFill>
            <a:srgbClr val="5B4B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8119871" y="2247631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Security-Copilot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>
                <a:solidFill>
                  <a:srgbClr val="E7E3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upload · one run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10113263" y="2313432"/>
            <a:ext cx="27432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10479024" y="219456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port_2E8B62.png" id="373" name="Google Shape;373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570464" y="22860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7"/>
          <p:cNvSpPr txBox="1"/>
          <p:nvPr/>
        </p:nvSpPr>
        <p:spPr>
          <a:xfrm>
            <a:off x="10387584" y="2633472"/>
            <a:ext cx="585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PDF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10936224" y="219456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n_2E8B62.png" id="376" name="Google Shape;376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027664" y="22860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7"/>
          <p:cNvSpPr txBox="1"/>
          <p:nvPr/>
        </p:nvSpPr>
        <p:spPr>
          <a:xfrm>
            <a:off x="10844784" y="2633472"/>
            <a:ext cx="585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11393424" y="219456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_2E8B62.png" id="379" name="Google Shape;379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484864" y="22860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7"/>
          <p:cNvSpPr txBox="1"/>
          <p:nvPr/>
        </p:nvSpPr>
        <p:spPr>
          <a:xfrm>
            <a:off x="11301984" y="2633472"/>
            <a:ext cx="585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campaign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6163055" y="2907792"/>
            <a:ext cx="5532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Verdict, trace path, origin, attribution and campaign — </a:t>
            </a:r>
            <a:r>
              <a:rPr b="1" i="1" lang="en-US" sz="9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one explainable report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6035040" y="3401568"/>
            <a:ext cx="2830068" cy="80467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5875">
            <a:solidFill>
              <a:srgbClr val="F5CD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6144768" y="3575304"/>
            <a:ext cx="457200" cy="457200"/>
          </a:xfrm>
          <a:prstGeom prst="ellipse">
            <a:avLst/>
          </a:prstGeom>
          <a:solidFill>
            <a:srgbClr val="FDEE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upee_C8612A.png" id="384" name="Google Shape;384;p1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245352" y="36758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7"/>
          <p:cNvSpPr txBox="1"/>
          <p:nvPr/>
        </p:nvSpPr>
        <p:spPr>
          <a:xfrm>
            <a:off x="6698007" y="3655257"/>
            <a:ext cx="2098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8612A"/>
                </a:solidFill>
                <a:latin typeface="IBM Plex Sans"/>
                <a:ea typeface="IBM Plex Sans"/>
                <a:cs typeface="IBM Plex Sans"/>
                <a:sym typeface="IBM Plex Sans"/>
              </a:rPr>
              <a:t>Economic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Cuts BEC &amp; payment-fraud losses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8993124" y="3401568"/>
            <a:ext cx="2830068" cy="80467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5875">
            <a:solidFill>
              <a:srgbClr val="BF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9102852" y="3575304"/>
            <a:ext cx="457200" cy="457200"/>
          </a:xfrm>
          <a:prstGeom prst="ellipse">
            <a:avLst/>
          </a:prstGeom>
          <a:solidFill>
            <a:srgbClr val="E6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s_2B6CB0.png" id="388" name="Google Shape;388;p1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203436" y="36758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7"/>
          <p:cNvSpPr txBox="1"/>
          <p:nvPr/>
        </p:nvSpPr>
        <p:spPr>
          <a:xfrm>
            <a:off x="9688042" y="3627820"/>
            <a:ext cx="2098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B6CB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Social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Digital trust for citizens &amp; campuses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6035040" y="4297680"/>
            <a:ext cx="2830068" cy="80467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587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6144768" y="4471416"/>
            <a:ext cx="457200" cy="457200"/>
          </a:xfrm>
          <a:prstGeom prst="ellipse">
            <a:avLst/>
          </a:prstGeom>
          <a:solidFill>
            <a:srgbClr val="EEEB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ale_5B4BC4.png" id="392" name="Google Shape;392;p1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245352" y="45720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7"/>
          <p:cNvSpPr txBox="1"/>
          <p:nvPr/>
        </p:nvSpPr>
        <p:spPr>
          <a:xfrm>
            <a:off x="6698000" y="4457063"/>
            <a:ext cx="209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Governance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Aids CERT-In 6-hr reporting · DPDP-aligned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8993124" y="4297680"/>
            <a:ext cx="2830068" cy="80467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587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9102852" y="4471416"/>
            <a:ext cx="457200" cy="457200"/>
          </a:xfrm>
          <a:prstGeom prst="ellipse">
            <a:avLst/>
          </a:prstGeom>
          <a:solidFill>
            <a:srgbClr val="E6F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pu_2E8B62.png" id="396" name="Google Shape;396;p1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203436" y="45720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7"/>
          <p:cNvSpPr txBox="1"/>
          <p:nvPr/>
        </p:nvSpPr>
        <p:spPr>
          <a:xfrm>
            <a:off x="9630930" y="4516407"/>
            <a:ext cx="2098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Scalable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Open-source, CPU-only, self-hostable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365760" y="5331221"/>
            <a:ext cx="109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ROADMAP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99" name="Google Shape;399;p17"/>
          <p:cNvCxnSpPr/>
          <p:nvPr/>
        </p:nvCxnSpPr>
        <p:spPr>
          <a:xfrm>
            <a:off x="1188720" y="5550677"/>
            <a:ext cx="10424100" cy="0"/>
          </a:xfrm>
          <a:prstGeom prst="straightConnector1">
            <a:avLst/>
          </a:prstGeom>
          <a:noFill/>
          <a:ln cap="flat" cmpd="sng" w="31750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7"/>
          <p:cNvSpPr/>
          <p:nvPr/>
        </p:nvSpPr>
        <p:spPr>
          <a:xfrm>
            <a:off x="1691640" y="5413517"/>
            <a:ext cx="274200" cy="274200"/>
          </a:xfrm>
          <a:prstGeom prst="ellipse">
            <a:avLst/>
          </a:prstGeom>
          <a:solidFill>
            <a:srgbClr val="2E8B62"/>
          </a:solidFill>
          <a:ln cap="flat" cmpd="sng" w="25400">
            <a:solidFill>
              <a:srgbClr val="2E8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731520" y="5751845"/>
            <a:ext cx="219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platform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6 PS modules + Gmail add-on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4023359" y="5413517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3063239" y="5751845"/>
            <a:ext cx="219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Mailbox ingestion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Outlook · IMAP · hosted Gmail rollout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6309359" y="5413517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C861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 txBox="1"/>
          <p:nvPr/>
        </p:nvSpPr>
        <p:spPr>
          <a:xfrm>
            <a:off x="5349240" y="5751845"/>
            <a:ext cx="219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Institution pilots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colleges · cyber cells · banks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8595360" y="5413517"/>
            <a:ext cx="274200" cy="274200"/>
          </a:xfrm>
          <a:prstGeom prst="ellipse">
            <a:avLst/>
          </a:prstGeom>
          <a:solidFill>
            <a:srgbClr val="5B4BC4"/>
          </a:solidFill>
          <a:ln cap="flat" cmpd="sng" w="25400">
            <a:solidFill>
              <a:srgbClr val="5B4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7635240" y="5751845"/>
            <a:ext cx="219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Blockchain evidence ledger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hash-chained chain of custody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10698480" y="5413517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9A7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 txBox="1"/>
          <p:nvPr/>
        </p:nvSpPr>
        <p:spPr>
          <a:xfrm>
            <a:off x="9738360" y="5751845"/>
            <a:ext cx="219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National scale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multi-tenant · SIEM export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descr="Your startup LOGO" id="410" name="Google Shape;410;p17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Eye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 txBox="1"/>
          <p:nvPr>
            <p:ph type="title"/>
          </p:nvPr>
        </p:nvSpPr>
        <p:spPr>
          <a:xfrm>
            <a:off x="1783080" y="16459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/>
          </a:p>
        </p:txBody>
      </p:sp>
      <p:sp>
        <p:nvSpPr>
          <p:cNvPr id="418" name="Google Shape;418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9" name="Google Shape;419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20" name="Google Shape;4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8"/>
          <p:cNvSpPr/>
          <p:nvPr/>
        </p:nvSpPr>
        <p:spPr>
          <a:xfrm>
            <a:off x="365760" y="1225296"/>
            <a:ext cx="3685032" cy="2395728"/>
          </a:xfrm>
          <a:prstGeom prst="roundRect">
            <a:avLst>
              <a:gd fmla="val 6000" name="adj"/>
            </a:avLst>
          </a:prstGeom>
          <a:solidFill>
            <a:srgbClr val="E6F1FB"/>
          </a:solidFill>
          <a:ln cap="flat" cmpd="sng" w="9525">
            <a:solidFill>
              <a:srgbClr val="BF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ey_2B6CB0.png" id="422" name="Google Shape;4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" y="1353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 txBox="1"/>
          <p:nvPr/>
        </p:nvSpPr>
        <p:spPr>
          <a:xfrm>
            <a:off x="893154" y="1402259"/>
            <a:ext cx="3090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B6CB0"/>
                </a:solidFill>
                <a:latin typeface="IBM Plex Sans"/>
                <a:ea typeface="IBM Plex Sans"/>
                <a:cs typeface="IBM Plex Sans"/>
                <a:sym typeface="IBM Plex Sans"/>
              </a:rPr>
              <a:t>1. Email authentication standards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530352" y="1700784"/>
            <a:ext cx="3410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7208 — SPF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2B6CB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datatracker.ietf.org/doc/html/rfc7208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6376 — DKIM Signatures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2B6CB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datatracker.ietf.org/doc/html/rfc6376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7489 — DMARC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2B6CB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datatracker.ietf.org/doc/html/rfc7489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5322 — Message format &amp; Received trace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2B6CB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datatracker.ietf.org/doc/html/rfc5322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4251960" y="1225296"/>
            <a:ext cx="3685032" cy="2395728"/>
          </a:xfrm>
          <a:prstGeom prst="roundRect">
            <a:avLst>
              <a:gd fmla="val 6000" name="adj"/>
            </a:avLst>
          </a:prstGeom>
          <a:solidFill>
            <a:srgbClr val="EEEBFC"/>
          </a:solidFill>
          <a:ln cap="flat" cmpd="sng" w="9525">
            <a:solidFill>
              <a:srgbClr val="CF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rain_5B4BC4.png" id="426" name="Google Shape;42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8264" y="1353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8"/>
          <p:cNvSpPr txBox="1"/>
          <p:nvPr/>
        </p:nvSpPr>
        <p:spPr>
          <a:xfrm>
            <a:off x="4779354" y="1402259"/>
            <a:ext cx="3090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2. AI / ML models &amp; methods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4416552" y="1700784"/>
            <a:ext cx="3410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Jev (typesafe) — primary phishing classifier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openrouter.ai/api/alpha/decisions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LangGraph — stateful agent orchestration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github.com/langchain-ai/langgraph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BERT phishing classifier (ealvaradob)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huggingface.co/ealvaradob/bert-finetuned-phishing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ONNX URL model (pirocheto)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huggingface.co/pirocheto/phishing-url-detection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SecureBERT, Aghaei et al. 2022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B4BC4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arxiv.org/abs/2204.02685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8138160" y="1225296"/>
            <a:ext cx="3685032" cy="2395728"/>
          </a:xfrm>
          <a:prstGeom prst="roundRect">
            <a:avLst>
              <a:gd fmla="val 6000" name="adj"/>
            </a:avLst>
          </a:prstGeom>
          <a:solidFill>
            <a:srgbClr val="E6F6EE"/>
          </a:solidFill>
          <a:ln cap="flat" cmpd="sng" w="9525">
            <a:solidFill>
              <a:srgbClr val="BDE5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lobe_2E8B62.png" id="430" name="Google Shape;43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4464" y="1353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8"/>
          <p:cNvSpPr txBox="1"/>
          <p:nvPr/>
        </p:nvSpPr>
        <p:spPr>
          <a:xfrm>
            <a:off x="8665554" y="1402259"/>
            <a:ext cx="3090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3. Threat intel &amp; geolocation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8302752" y="1700784"/>
            <a:ext cx="3410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MaxMind GeoLite2 City / ASN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dev.maxmind.com/geoip/geolite2-free-geolocation-data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Tor Project bulk exit list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check.torproject.org/torbulkexitlist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X4BNet VPN &amp; datacenter ranges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2E8B62"/>
                </a:solidFill>
                <a:latin typeface="IBM Plex Sans"/>
                <a:ea typeface="IBM Plex Sans"/>
                <a:cs typeface="IBM Plex Sans"/>
                <a:sym typeface="IBM Plex Sans"/>
              </a:rPr>
              <a:t>github.com/X4BNet/lists_vpn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AbuseIPDB · VirusTotal APIs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abuseipdb.com · virustotal.com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365760" y="3749040"/>
            <a:ext cx="3685032" cy="2395728"/>
          </a:xfrm>
          <a:prstGeom prst="roundRect">
            <a:avLst>
              <a:gd fmla="val 6000" name="adj"/>
            </a:avLst>
          </a:prstGeom>
          <a:solidFill>
            <a:srgbClr val="FCE8EA"/>
          </a:solidFill>
          <a:ln cap="flat" cmpd="sng" w="9525">
            <a:solidFill>
              <a:srgbClr val="F2C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nger_C0394B.png" id="434" name="Google Shape;43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064" y="38770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8"/>
          <p:cNvSpPr txBox="1"/>
          <p:nvPr/>
        </p:nvSpPr>
        <p:spPr>
          <a:xfrm>
            <a:off x="893154" y="3926003"/>
            <a:ext cx="3090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4. Forensic &amp; privacy tooling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530352" y="4224528"/>
            <a:ext cx="3410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checkdmarc · dkimpy (SPF/DMARC/DKIM)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pypi.org/project/checkdmarc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oletools — Office macro analysis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github.com/decalage2/oletools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pypdf · ClamAV — PDF sandbox &amp; signature scan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pypi.org/project/pypdf · clamav.net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Microsoft Presidio — PII masking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microsoft.github.io/presidio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DBSCAN, Ester et al., KDD 1996 · NetworkX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C0394B"/>
                </a:solidFill>
                <a:latin typeface="IBM Plex Sans"/>
                <a:ea typeface="IBM Plex Sans"/>
                <a:cs typeface="IBM Plex Sans"/>
                <a:sym typeface="IBM Plex Sans"/>
              </a:rPr>
              <a:t>networkx.org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4251960" y="3749040"/>
            <a:ext cx="3685032" cy="2395728"/>
          </a:xfrm>
          <a:prstGeom prst="roundRect">
            <a:avLst>
              <a:gd fmla="val 6000" name="adj"/>
            </a:avLst>
          </a:prstGeom>
          <a:solidFill>
            <a:srgbClr val="FDEEE3"/>
          </a:solidFill>
          <a:ln cap="flat" cmpd="sng" w="9525">
            <a:solidFill>
              <a:srgbClr val="F5CD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ert_C8612A.png" id="438" name="Google Shape;43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8264" y="38770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8"/>
          <p:cNvSpPr txBox="1"/>
          <p:nvPr/>
        </p:nvSpPr>
        <p:spPr>
          <a:xfrm>
            <a:off x="4779354" y="3926003"/>
            <a:ext cx="3090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C8612A"/>
                </a:solidFill>
                <a:latin typeface="IBM Plex Sans"/>
                <a:ea typeface="IBM Plex Sans"/>
                <a:cs typeface="IBM Plex Sans"/>
                <a:sym typeface="IBM Plex Sans"/>
              </a:rPr>
              <a:t>5. Threat landscape data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0" name="Google Shape;440;p18"/>
          <p:cNvSpPr txBox="1"/>
          <p:nvPr/>
        </p:nvSpPr>
        <p:spPr>
          <a:xfrm>
            <a:off x="4416552" y="4224528"/>
            <a:ext cx="3410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FBI IC3 Internet Crime Report 2025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C8612A"/>
                </a:solidFill>
                <a:latin typeface="IBM Plex Sans"/>
                <a:ea typeface="IBM Plex Sans"/>
                <a:cs typeface="IBM Plex Sans"/>
                <a:sym typeface="IBM Plex Sans"/>
              </a:rPr>
              <a:t>ic3.gov/AnnualReport/Reports/2025_IC3Report.pdf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MHA / I4C: ₹22,495 Cr cyber-fraud loss, 2025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theprint.in (Feb 2026)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CERT-In Directions, 28 Apr 2022 (6-hr reporting)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C8612A"/>
                </a:solidFill>
                <a:latin typeface="IBM Plex Sans"/>
                <a:ea typeface="IBM Plex Sans"/>
                <a:cs typeface="IBM Plex Sans"/>
                <a:sym typeface="IBM Plex Sans"/>
              </a:rPr>
              <a:t>cert-in.org.in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Digital Personal Data Protection Act, 2023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C8612A"/>
                </a:solidFill>
                <a:latin typeface="IBM Plex Sans"/>
                <a:ea typeface="IBM Plex Sans"/>
                <a:cs typeface="IBM Plex Sans"/>
                <a:sym typeface="IBM Plex Sans"/>
              </a:rPr>
              <a:t>meity.gov.in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8138160" y="3749040"/>
            <a:ext cx="3685032" cy="2395728"/>
          </a:xfrm>
          <a:prstGeom prst="roundRect">
            <a:avLst>
              <a:gd fmla="val 6000" name="adj"/>
            </a:avLst>
          </a:prstGeom>
          <a:solidFill>
            <a:srgbClr val="FFF6DA"/>
          </a:solidFill>
          <a:ln cap="flat" cmpd="sng" w="9525">
            <a:solidFill>
              <a:srgbClr val="F1DE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_9A7300.png" id="442" name="Google Shape;44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84464" y="38770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8"/>
          <p:cNvSpPr txBox="1"/>
          <p:nvPr/>
        </p:nvSpPr>
        <p:spPr>
          <a:xfrm>
            <a:off x="8665554" y="3926003"/>
            <a:ext cx="3090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9A7300"/>
                </a:solidFill>
                <a:latin typeface="IBM Plex Sans"/>
                <a:ea typeface="IBM Plex Sans"/>
                <a:cs typeface="IBM Plex Sans"/>
                <a:sym typeface="IBM Plex Sans"/>
              </a:rPr>
              <a:t>6. Our platform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4" name="Google Shape;444;p18"/>
          <p:cNvSpPr txBox="1"/>
          <p:nvPr/>
        </p:nvSpPr>
        <p:spPr>
          <a:xfrm>
            <a:off x="8302752" y="4224528"/>
            <a:ext cx="3410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code — Security-Copilot (SIH26106)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9A73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https://github.com/code-YK/Security-Copilot-Sih26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Backend: FastAPI + LangGraph agent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26 automated tests · pytest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Dashboard: Next.js · Extension: Chrome MV3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screens: case page, graph, campaigns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Gmail Add-on: Google Apps Script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9A73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developers.google.com/workspace/add-ons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Case study: spoofed PayPal email via TOR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50">
                <a:solidFill>
                  <a:srgbClr val="5A6378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 100 · campaign C-9b6bad01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descr="Your startup LOGO" id="445" name="Google Shape;445;p18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Eye</a:t>
            </a:r>
            <a:endParaRPr sz="1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